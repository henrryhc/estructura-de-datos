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8ce81ca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8ce81ca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8ce81ca3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8ce81ca3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8ce81ca3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8ce81ca3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8ce81ca3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8ce81ca3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545502" y="287850"/>
            <a:ext cx="6948300" cy="585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sz="2000"/>
              <a:t>Capítulo 2: Diseño de la Solución</a:t>
            </a:r>
            <a:endParaRPr sz="2000"/>
          </a:p>
        </p:txBody>
      </p:sp>
      <p:sp>
        <p:nvSpPr>
          <p:cNvPr id="55" name="Google Shape;55;p13"/>
          <p:cNvSpPr txBox="1"/>
          <p:nvPr>
            <p:ph idx="1" type="subTitle"/>
          </p:nvPr>
        </p:nvSpPr>
        <p:spPr>
          <a:xfrm>
            <a:off x="273650" y="1300875"/>
            <a:ext cx="8520600" cy="15945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ts val="275"/>
              <a:buFont typeface="Arial"/>
              <a:buNone/>
            </a:pPr>
            <a:r>
              <a:rPr lang="es" sz="8000"/>
              <a:t>1. Descripción de estructuras de datos y operaciones:</a:t>
            </a:r>
            <a:endParaRPr sz="8000"/>
          </a:p>
          <a:p>
            <a:pPr indent="0" lvl="0" marL="0" rtl="0" algn="l">
              <a:spcBef>
                <a:spcPts val="0"/>
              </a:spcBef>
              <a:spcAft>
                <a:spcPts val="0"/>
              </a:spcAft>
              <a:buClr>
                <a:schemeClr val="dk1"/>
              </a:buClr>
              <a:buSzPts val="275"/>
              <a:buFont typeface="Arial"/>
              <a:buNone/>
            </a:pPr>
            <a:r>
              <a:rPr lang="es" sz="8000"/>
              <a:t>2. Algoritmos principales:</a:t>
            </a:r>
            <a:endParaRPr sz="8000"/>
          </a:p>
          <a:p>
            <a:pPr indent="0" lvl="0" marL="0" rtl="0" algn="l">
              <a:spcBef>
                <a:spcPts val="0"/>
              </a:spcBef>
              <a:spcAft>
                <a:spcPts val="0"/>
              </a:spcAft>
              <a:buClr>
                <a:schemeClr val="dk1"/>
              </a:buClr>
              <a:buSzPts val="275"/>
              <a:buFont typeface="Arial"/>
              <a:buNone/>
            </a:pPr>
            <a:r>
              <a:rPr lang="es" sz="8000"/>
              <a:t>Pseudocódigo para agregar proceso.</a:t>
            </a:r>
            <a:endParaRPr sz="8000"/>
          </a:p>
          <a:p>
            <a:pPr indent="0" lvl="0" marL="0" rtl="0" algn="l">
              <a:spcBef>
                <a:spcPts val="0"/>
              </a:spcBef>
              <a:spcAft>
                <a:spcPts val="0"/>
              </a:spcAft>
              <a:buClr>
                <a:schemeClr val="dk1"/>
              </a:buClr>
              <a:buSzPts val="275"/>
              <a:buFont typeface="Arial"/>
              <a:buNone/>
            </a:pPr>
            <a:r>
              <a:rPr lang="es" sz="8000"/>
              <a:t>Pseudocódigo para cambiar estado del proceso.</a:t>
            </a:r>
            <a:endParaRPr sz="8000"/>
          </a:p>
          <a:p>
            <a:pPr indent="0" lvl="0" marL="0" rtl="0" algn="l">
              <a:spcBef>
                <a:spcPts val="0"/>
              </a:spcBef>
              <a:spcAft>
                <a:spcPts val="0"/>
              </a:spcAft>
              <a:buClr>
                <a:schemeClr val="dk1"/>
              </a:buClr>
              <a:buSzPts val="275"/>
              <a:buFont typeface="Arial"/>
              <a:buNone/>
            </a:pPr>
            <a:r>
              <a:rPr lang="es" sz="8000"/>
              <a:t>3. Diagramas de Flujo</a:t>
            </a:r>
            <a:endParaRPr sz="8000"/>
          </a:p>
          <a:p>
            <a:pPr indent="0" lvl="0" marL="0" rtl="0" algn="l">
              <a:spcBef>
                <a:spcPts val="0"/>
              </a:spcBef>
              <a:spcAft>
                <a:spcPts val="0"/>
              </a:spcAft>
              <a:buClr>
                <a:schemeClr val="dk1"/>
              </a:buClr>
              <a:buSzPts val="275"/>
              <a:buFont typeface="Arial"/>
              <a:buNone/>
            </a:pPr>
            <a:r>
              <a:rPr lang="es" sz="8000"/>
              <a:t>4. Justificación del diseño:</a:t>
            </a:r>
            <a:endParaRPr sz="8000"/>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213826" y="195425"/>
            <a:ext cx="7399500" cy="574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2000">
                <a:solidFill>
                  <a:schemeClr val="dk2"/>
                </a:solidFill>
              </a:rPr>
              <a:t>1. Descripción de estructuras de datos y operaciones:</a:t>
            </a:r>
            <a:endParaRPr sz="2000"/>
          </a:p>
        </p:txBody>
      </p:sp>
      <p:sp>
        <p:nvSpPr>
          <p:cNvPr id="61" name="Google Shape;61;p14"/>
          <p:cNvSpPr txBox="1"/>
          <p:nvPr/>
        </p:nvSpPr>
        <p:spPr>
          <a:xfrm>
            <a:off x="181225" y="744875"/>
            <a:ext cx="4313100" cy="429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 sz="800">
                <a:solidFill>
                  <a:schemeClr val="dk1"/>
                </a:solidFill>
              </a:rPr>
              <a:t>Descripción de estructuras de datos y operaciones</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Para el desarrollo del Sistema de Gestión de Procesos se utilizaron estructuras de datos dinámicas lineales, ya que permiten administrar información de manera más flexible y organizada durante la ejecución del programa.</a:t>
            </a:r>
            <a:endParaRPr sz="800">
              <a:solidFill>
                <a:schemeClr val="dk1"/>
              </a:solidFill>
            </a:endParaRPr>
          </a:p>
          <a:p>
            <a:pPr indent="0" lvl="0" marL="0" rtl="0" algn="l">
              <a:lnSpc>
                <a:spcPct val="115000"/>
              </a:lnSpc>
              <a:spcBef>
                <a:spcPts val="1400"/>
              </a:spcBef>
              <a:spcAft>
                <a:spcPts val="0"/>
              </a:spcAft>
              <a:buNone/>
            </a:pPr>
            <a:r>
              <a:rPr b="1" lang="es" sz="800">
                <a:solidFill>
                  <a:schemeClr val="dk1"/>
                </a:solidFill>
              </a:rPr>
              <a:t>Lista Enlazada Gestor de Procesos</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Se utilizó para almacenar y administrar los procesos registrados en el sistema. Permite agregar, eliminar, buscar y modificar procesos dinámicamente.</a:t>
            </a:r>
            <a:endParaRPr sz="800">
              <a:solidFill>
                <a:schemeClr val="dk1"/>
              </a:solidFill>
            </a:endParaRPr>
          </a:p>
          <a:p>
            <a:pPr indent="0" lvl="0" marL="0" rtl="0" algn="l">
              <a:lnSpc>
                <a:spcPct val="115000"/>
              </a:lnSpc>
              <a:spcBef>
                <a:spcPts val="1200"/>
              </a:spcBef>
              <a:spcAft>
                <a:spcPts val="0"/>
              </a:spcAft>
              <a:buNone/>
            </a:pPr>
            <a:r>
              <a:rPr b="1" lang="es" sz="800">
                <a:solidFill>
                  <a:schemeClr val="dk1"/>
                </a:solidFill>
              </a:rPr>
              <a:t>Operaciones principales:</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Insertar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Eliminar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Buscar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Modificar prioridad y estado.</a:t>
            </a:r>
            <a:endParaRPr sz="800">
              <a:solidFill>
                <a:schemeClr val="dk1"/>
              </a:solidFill>
            </a:endParaRPr>
          </a:p>
          <a:p>
            <a:pPr indent="0" lvl="0" marL="0" rtl="0" algn="l">
              <a:lnSpc>
                <a:spcPct val="115000"/>
              </a:lnSpc>
              <a:spcBef>
                <a:spcPts val="1400"/>
              </a:spcBef>
              <a:spcAft>
                <a:spcPts val="0"/>
              </a:spcAft>
              <a:buNone/>
            </a:pPr>
            <a:r>
              <a:rPr b="1" lang="es" sz="800">
                <a:solidFill>
                  <a:schemeClr val="dk1"/>
                </a:solidFill>
              </a:rPr>
              <a:t>Cola de Prioridad Planificador de CPU</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Se implementó para organizar los procesos según su nivel de prioridad, permitiendo ejecutar primero los más importantes.</a:t>
            </a:r>
            <a:endParaRPr sz="800">
              <a:solidFill>
                <a:schemeClr val="dk1"/>
              </a:solidFill>
            </a:endParaRPr>
          </a:p>
          <a:p>
            <a:pPr indent="0" lvl="0" marL="0" rtl="0" algn="l">
              <a:lnSpc>
                <a:spcPct val="115000"/>
              </a:lnSpc>
              <a:spcBef>
                <a:spcPts val="1200"/>
              </a:spcBef>
              <a:spcAft>
                <a:spcPts val="0"/>
              </a:spcAft>
              <a:buNone/>
            </a:pPr>
            <a:r>
              <a:rPr b="1" lang="es" sz="800">
                <a:solidFill>
                  <a:schemeClr val="dk1"/>
                </a:solidFill>
              </a:rPr>
              <a:t>Operaciones principales:</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Encolar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Desencolar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Visualizar cola de ejecución.</a:t>
            </a:r>
            <a:endParaRPr sz="800">
              <a:solidFill>
                <a:schemeClr val="dk1"/>
              </a:solidFill>
            </a:endParaRPr>
          </a:p>
        </p:txBody>
      </p:sp>
      <p:sp>
        <p:nvSpPr>
          <p:cNvPr id="62" name="Google Shape;62;p14"/>
          <p:cNvSpPr txBox="1"/>
          <p:nvPr/>
        </p:nvSpPr>
        <p:spPr>
          <a:xfrm>
            <a:off x="4912375" y="940300"/>
            <a:ext cx="3000000" cy="368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 sz="800">
                <a:solidFill>
                  <a:schemeClr val="dk1"/>
                </a:solidFill>
              </a:rPr>
              <a:t>Pila Gestor de Memoria</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Se utilizó para administrar la memoria siguiendo el principio LIFO (Last In, First Out), donde el último bloque asignado es el primero en liberarse.</a:t>
            </a:r>
            <a:endParaRPr sz="800">
              <a:solidFill>
                <a:schemeClr val="dk1"/>
              </a:solidFill>
            </a:endParaRPr>
          </a:p>
          <a:p>
            <a:pPr indent="0" lvl="0" marL="0" rtl="0" algn="l">
              <a:lnSpc>
                <a:spcPct val="115000"/>
              </a:lnSpc>
              <a:spcBef>
                <a:spcPts val="1200"/>
              </a:spcBef>
              <a:spcAft>
                <a:spcPts val="0"/>
              </a:spcAft>
              <a:buNone/>
            </a:pPr>
            <a:r>
              <a:rPr b="1" lang="es" sz="800">
                <a:solidFill>
                  <a:schemeClr val="dk1"/>
                </a:solidFill>
              </a:rPr>
              <a:t>Operaciones principales:</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Push (asignar memoria).</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Pop (liberar memoria).</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Mostrar estado de memoria.</a:t>
            </a:r>
            <a:endParaRPr sz="800">
              <a:solidFill>
                <a:schemeClr val="dk1"/>
              </a:solidFill>
            </a:endParaRPr>
          </a:p>
          <a:p>
            <a:pPr indent="0" lvl="0" marL="0" rtl="0" algn="l">
              <a:lnSpc>
                <a:spcPct val="115000"/>
              </a:lnSpc>
              <a:spcBef>
                <a:spcPts val="1200"/>
              </a:spcBef>
              <a:spcAft>
                <a:spcPts val="0"/>
              </a:spcAft>
              <a:buNone/>
            </a:pPr>
            <a:r>
              <a:t/>
            </a:r>
            <a:endParaRPr sz="800">
              <a:solidFill>
                <a:schemeClr val="dk1"/>
              </a:solidFill>
            </a:endParaRPr>
          </a:p>
          <a:p>
            <a:pPr indent="0" lvl="0" marL="0" rtl="0" algn="l">
              <a:lnSpc>
                <a:spcPct val="115000"/>
              </a:lnSpc>
              <a:spcBef>
                <a:spcPts val="1400"/>
              </a:spcBef>
              <a:spcAft>
                <a:spcPts val="0"/>
              </a:spcAft>
              <a:buNone/>
            </a:pPr>
            <a:r>
              <a:rPr b="1" lang="es" sz="800">
                <a:solidFill>
                  <a:schemeClr val="dk1"/>
                </a:solidFill>
              </a:rPr>
              <a:t>Relación entre estructuras</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Las tres estructuras trabajan conjuntamente:</a:t>
            </a:r>
            <a:endParaRPr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La lista enlazada administra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La cola organiza su ejecución.</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La pila controla la memoria utilizada.</a:t>
            </a:r>
            <a:endParaRPr sz="800">
              <a:solidFill>
                <a:schemeClr val="dk1"/>
              </a:solidFill>
            </a:endParaRPr>
          </a:p>
          <a:p>
            <a:pPr indent="0" lvl="0" marL="0" rtl="0" algn="l">
              <a:lnSpc>
                <a:spcPct val="115000"/>
              </a:lnSpc>
              <a:spcBef>
                <a:spcPts val="1200"/>
              </a:spcBef>
              <a:spcAft>
                <a:spcPts val="1200"/>
              </a:spcAft>
              <a:buNone/>
            </a:pPr>
            <a:r>
              <a:rPr lang="es" sz="800">
                <a:solidFill>
                  <a:schemeClr val="dk1"/>
                </a:solidFill>
              </a:rPr>
              <a:t>Esto permite simular de manera más cercana el funcionamiento básico de un sistema operativo.</a:t>
            </a:r>
            <a:endParaRPr sz="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213826" y="195425"/>
            <a:ext cx="7399500" cy="5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000">
                <a:solidFill>
                  <a:schemeClr val="dk2"/>
                </a:solidFill>
              </a:rPr>
              <a:t>2. Algoritmos principales:</a:t>
            </a:r>
            <a:endParaRPr sz="2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68" name="Google Shape;68;p15"/>
          <p:cNvSpPr txBox="1"/>
          <p:nvPr/>
        </p:nvSpPr>
        <p:spPr>
          <a:xfrm>
            <a:off x="65250" y="375150"/>
            <a:ext cx="8238600" cy="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800"/>
              <a:t>En esta sección se presentan los algoritmos principales utilizados en el Sistema de Gestión de Procesos. Cada uno cumple una función importante dentro del programa, permitiendo administrar los procesos, organizar su ejecución y controlar la memoria de manera dinámica.Los algoritmos fueron desarrollados utilizando estructuras de datos lineales dinámicas, ya que estas ofrecen mayor flexibilidad al momento de trabajar con información que cambia constantemente durante la ejecución del sistema.</a:t>
            </a:r>
            <a:endParaRPr sz="800"/>
          </a:p>
        </p:txBody>
      </p:sp>
      <p:sp>
        <p:nvSpPr>
          <p:cNvPr id="69" name="Google Shape;69;p15"/>
          <p:cNvSpPr txBox="1"/>
          <p:nvPr/>
        </p:nvSpPr>
        <p:spPr>
          <a:xfrm>
            <a:off x="125050" y="966150"/>
            <a:ext cx="1975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00"/>
              <a:t>para agregar proceso </a:t>
            </a:r>
            <a:endParaRPr b="1" sz="800"/>
          </a:p>
        </p:txBody>
      </p:sp>
      <p:sp>
        <p:nvSpPr>
          <p:cNvPr id="70" name="Google Shape;70;p15"/>
          <p:cNvSpPr txBox="1"/>
          <p:nvPr/>
        </p:nvSpPr>
        <p:spPr>
          <a:xfrm>
            <a:off x="125050" y="1228775"/>
            <a:ext cx="19752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600">
                <a:solidFill>
                  <a:schemeClr val="dk1"/>
                </a:solidFill>
              </a:rPr>
              <a:t>Inicio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Leer ID</a:t>
            </a:r>
            <a:endParaRPr sz="600">
              <a:solidFill>
                <a:schemeClr val="dk1"/>
              </a:solidFill>
            </a:endParaRPr>
          </a:p>
          <a:p>
            <a:pPr indent="0" lvl="0" marL="0" rtl="0" algn="l">
              <a:spcBef>
                <a:spcPts val="0"/>
              </a:spcBef>
              <a:spcAft>
                <a:spcPts val="0"/>
              </a:spcAft>
              <a:buNone/>
            </a:pPr>
            <a:r>
              <a:rPr lang="es" sz="600">
                <a:solidFill>
                  <a:schemeClr val="dk1"/>
                </a:solidFill>
              </a:rPr>
              <a:t>Leer Nombre</a:t>
            </a:r>
            <a:endParaRPr sz="600">
              <a:solidFill>
                <a:schemeClr val="dk1"/>
              </a:solidFill>
            </a:endParaRPr>
          </a:p>
          <a:p>
            <a:pPr indent="0" lvl="0" marL="0" rtl="0" algn="l">
              <a:spcBef>
                <a:spcPts val="0"/>
              </a:spcBef>
              <a:spcAft>
                <a:spcPts val="0"/>
              </a:spcAft>
              <a:buNone/>
            </a:pPr>
            <a:r>
              <a:rPr lang="es" sz="600">
                <a:solidFill>
                  <a:schemeClr val="dk1"/>
                </a:solidFill>
              </a:rPr>
              <a:t>Leer Prioridad</a:t>
            </a:r>
            <a:endParaRPr sz="600">
              <a:solidFill>
                <a:schemeClr val="dk1"/>
              </a:solidFill>
            </a:endParaRPr>
          </a:p>
          <a:p>
            <a:pPr indent="0" lvl="0" marL="0" rtl="0" algn="l">
              <a:spcBef>
                <a:spcPts val="0"/>
              </a:spcBef>
              <a:spcAft>
                <a:spcPts val="0"/>
              </a:spcAft>
              <a:buNone/>
            </a:pPr>
            <a:r>
              <a:rPr lang="es" sz="600">
                <a:solidFill>
                  <a:schemeClr val="dk1"/>
                </a:solidFill>
              </a:rPr>
              <a:t>Leer Estado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Crear nuevo nodo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Si la lista está vacía Entonces</a:t>
            </a:r>
            <a:endParaRPr sz="600">
              <a:solidFill>
                <a:schemeClr val="dk1"/>
              </a:solidFill>
            </a:endParaRPr>
          </a:p>
          <a:p>
            <a:pPr indent="0" lvl="0" marL="0" rtl="0" algn="l">
              <a:spcBef>
                <a:spcPts val="0"/>
              </a:spcBef>
              <a:spcAft>
                <a:spcPts val="0"/>
              </a:spcAft>
              <a:buNone/>
            </a:pPr>
            <a:r>
              <a:rPr lang="es" sz="600">
                <a:solidFill>
                  <a:schemeClr val="dk1"/>
                </a:solidFill>
              </a:rPr>
              <a:t>    Insertar nodo como inicio</a:t>
            </a:r>
            <a:endParaRPr sz="600">
              <a:solidFill>
                <a:schemeClr val="dk1"/>
              </a:solidFill>
            </a:endParaRPr>
          </a:p>
          <a:p>
            <a:pPr indent="0" lvl="0" marL="0" rtl="0" algn="l">
              <a:spcBef>
                <a:spcPts val="0"/>
              </a:spcBef>
              <a:spcAft>
                <a:spcPts val="0"/>
              </a:spcAft>
              <a:buNone/>
            </a:pPr>
            <a:r>
              <a:rPr lang="es" sz="600">
                <a:solidFill>
                  <a:schemeClr val="dk1"/>
                </a:solidFill>
              </a:rPr>
              <a:t>Sino</a:t>
            </a:r>
            <a:endParaRPr sz="600">
              <a:solidFill>
                <a:schemeClr val="dk1"/>
              </a:solidFill>
            </a:endParaRPr>
          </a:p>
          <a:p>
            <a:pPr indent="0" lvl="0" marL="0" rtl="0" algn="l">
              <a:spcBef>
                <a:spcPts val="0"/>
              </a:spcBef>
              <a:spcAft>
                <a:spcPts val="0"/>
              </a:spcAft>
              <a:buNone/>
            </a:pPr>
            <a:r>
              <a:rPr lang="es" sz="600">
                <a:solidFill>
                  <a:schemeClr val="dk1"/>
                </a:solidFill>
              </a:rPr>
              <a:t>    Recorrer lista hasta el último nodo</a:t>
            </a:r>
            <a:endParaRPr sz="600">
              <a:solidFill>
                <a:schemeClr val="dk1"/>
              </a:solidFill>
            </a:endParaRPr>
          </a:p>
          <a:p>
            <a:pPr indent="0" lvl="0" marL="0" rtl="0" algn="l">
              <a:spcBef>
                <a:spcPts val="0"/>
              </a:spcBef>
              <a:spcAft>
                <a:spcPts val="0"/>
              </a:spcAft>
              <a:buNone/>
            </a:pPr>
            <a:r>
              <a:rPr lang="es" sz="600">
                <a:solidFill>
                  <a:schemeClr val="dk1"/>
                </a:solidFill>
              </a:rPr>
              <a:t>    Insertar nuevo nodo al final</a:t>
            </a:r>
            <a:endParaRPr sz="600">
              <a:solidFill>
                <a:schemeClr val="dk1"/>
              </a:solidFill>
            </a:endParaRPr>
          </a:p>
          <a:p>
            <a:pPr indent="0" lvl="0" marL="0" rtl="0" algn="l">
              <a:spcBef>
                <a:spcPts val="0"/>
              </a:spcBef>
              <a:spcAft>
                <a:spcPts val="0"/>
              </a:spcAft>
              <a:buNone/>
            </a:pPr>
            <a:r>
              <a:rPr lang="es" sz="600">
                <a:solidFill>
                  <a:schemeClr val="dk1"/>
                </a:solidFill>
              </a:rPr>
              <a:t>FinSi</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Mostrar "Proceso agregado correctamente"</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a:t>
            </a:r>
            <a:endParaRPr sz="600">
              <a:solidFill>
                <a:schemeClr val="dk1"/>
              </a:solidFill>
            </a:endParaRPr>
          </a:p>
        </p:txBody>
      </p:sp>
      <p:sp>
        <p:nvSpPr>
          <p:cNvPr id="71" name="Google Shape;71;p15"/>
          <p:cNvSpPr txBox="1"/>
          <p:nvPr/>
        </p:nvSpPr>
        <p:spPr>
          <a:xfrm>
            <a:off x="1913850" y="2776950"/>
            <a:ext cx="2024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00"/>
              <a:t>para cambiar por ID </a:t>
            </a:r>
            <a:endParaRPr b="1" sz="800"/>
          </a:p>
        </p:txBody>
      </p:sp>
      <p:sp>
        <p:nvSpPr>
          <p:cNvPr id="72" name="Google Shape;72;p15"/>
          <p:cNvSpPr txBox="1"/>
          <p:nvPr/>
        </p:nvSpPr>
        <p:spPr>
          <a:xfrm>
            <a:off x="2060550" y="3019500"/>
            <a:ext cx="28533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600">
                <a:solidFill>
                  <a:schemeClr val="dk1"/>
                </a:solidFill>
              </a:rPr>
              <a:t>Inicio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Leer ID del proceso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Si la lista está vacía Entonces</a:t>
            </a:r>
            <a:endParaRPr sz="600">
              <a:solidFill>
                <a:schemeClr val="dk1"/>
              </a:solidFill>
            </a:endParaRPr>
          </a:p>
          <a:p>
            <a:pPr indent="0" lvl="0" marL="0" rtl="0" algn="l">
              <a:spcBef>
                <a:spcPts val="0"/>
              </a:spcBef>
              <a:spcAft>
                <a:spcPts val="0"/>
              </a:spcAft>
              <a:buNone/>
            </a:pPr>
            <a:r>
              <a:rPr lang="es" sz="600">
                <a:solidFill>
                  <a:schemeClr val="dk1"/>
                </a:solidFill>
              </a:rPr>
              <a:t>    Mostrar "No existen procesos"</a:t>
            </a:r>
            <a:endParaRPr sz="600">
              <a:solidFill>
                <a:schemeClr val="dk1"/>
              </a:solidFill>
            </a:endParaRPr>
          </a:p>
          <a:p>
            <a:pPr indent="0" lvl="0" marL="0" rtl="0" algn="l">
              <a:spcBef>
                <a:spcPts val="0"/>
              </a:spcBef>
              <a:spcAft>
                <a:spcPts val="0"/>
              </a:spcAft>
              <a:buNone/>
            </a:pPr>
            <a:r>
              <a:rPr lang="es" sz="600">
                <a:solidFill>
                  <a:schemeClr val="dk1"/>
                </a:solidFill>
              </a:rPr>
              <a:t>Sino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    Recorrer lista</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    Si el ID coincide Entonces</a:t>
            </a:r>
            <a:endParaRPr sz="600">
              <a:solidFill>
                <a:schemeClr val="dk1"/>
              </a:solidFill>
            </a:endParaRPr>
          </a:p>
          <a:p>
            <a:pPr indent="0" lvl="0" marL="0" rtl="0" algn="l">
              <a:spcBef>
                <a:spcPts val="0"/>
              </a:spcBef>
              <a:spcAft>
                <a:spcPts val="0"/>
              </a:spcAft>
              <a:buNone/>
            </a:pPr>
            <a:r>
              <a:rPr lang="es" sz="600">
                <a:solidFill>
                  <a:schemeClr val="dk1"/>
                </a:solidFill>
              </a:rPr>
              <a:t>        Leer nuevo estado</a:t>
            </a:r>
            <a:endParaRPr sz="600">
              <a:solidFill>
                <a:schemeClr val="dk1"/>
              </a:solidFill>
            </a:endParaRPr>
          </a:p>
          <a:p>
            <a:pPr indent="0" lvl="0" marL="0" rtl="0" algn="l">
              <a:spcBef>
                <a:spcPts val="0"/>
              </a:spcBef>
              <a:spcAft>
                <a:spcPts val="0"/>
              </a:spcAft>
              <a:buNone/>
            </a:pPr>
            <a:r>
              <a:rPr lang="es" sz="600">
                <a:solidFill>
                  <a:schemeClr val="dk1"/>
                </a:solidFill>
              </a:rPr>
              <a:t>        Actualizar estado</a:t>
            </a:r>
            <a:endParaRPr sz="600">
              <a:solidFill>
                <a:schemeClr val="dk1"/>
              </a:solidFill>
            </a:endParaRPr>
          </a:p>
          <a:p>
            <a:pPr indent="0" lvl="0" marL="0" rtl="0" algn="l">
              <a:spcBef>
                <a:spcPts val="0"/>
              </a:spcBef>
              <a:spcAft>
                <a:spcPts val="0"/>
              </a:spcAft>
              <a:buNone/>
            </a:pPr>
            <a:r>
              <a:rPr lang="es" sz="600">
                <a:solidFill>
                  <a:schemeClr val="dk1"/>
                </a:solidFill>
              </a:rPr>
              <a:t>        Mostrar "Estado actualizado correctamente"</a:t>
            </a:r>
            <a:endParaRPr sz="600">
              <a:solidFill>
                <a:schemeClr val="dk1"/>
              </a:solidFill>
            </a:endParaRPr>
          </a:p>
          <a:p>
            <a:pPr indent="0" lvl="0" marL="0" rtl="0" algn="l">
              <a:spcBef>
                <a:spcPts val="0"/>
              </a:spcBef>
              <a:spcAft>
                <a:spcPts val="0"/>
              </a:spcAft>
              <a:buNone/>
            </a:pPr>
            <a:r>
              <a:rPr lang="es" sz="600">
                <a:solidFill>
                  <a:schemeClr val="dk1"/>
                </a:solidFill>
              </a:rPr>
              <a:t>    Sino</a:t>
            </a:r>
            <a:endParaRPr sz="600">
              <a:solidFill>
                <a:schemeClr val="dk1"/>
              </a:solidFill>
            </a:endParaRPr>
          </a:p>
          <a:p>
            <a:pPr indent="0" lvl="0" marL="0" rtl="0" algn="l">
              <a:spcBef>
                <a:spcPts val="0"/>
              </a:spcBef>
              <a:spcAft>
                <a:spcPts val="0"/>
              </a:spcAft>
              <a:buNone/>
            </a:pPr>
            <a:r>
              <a:rPr lang="es" sz="600">
                <a:solidFill>
                  <a:schemeClr val="dk1"/>
                </a:solidFill>
              </a:rPr>
              <a:t>        Mostrar "Proceso no encontrado"</a:t>
            </a:r>
            <a:endParaRPr sz="600">
              <a:solidFill>
                <a:schemeClr val="dk1"/>
              </a:solidFill>
            </a:endParaRPr>
          </a:p>
          <a:p>
            <a:pPr indent="0" lvl="0" marL="0" rtl="0" algn="l">
              <a:spcBef>
                <a:spcPts val="0"/>
              </a:spcBef>
              <a:spcAft>
                <a:spcPts val="0"/>
              </a:spcAft>
              <a:buNone/>
            </a:pPr>
            <a:r>
              <a:rPr lang="es" sz="600">
                <a:solidFill>
                  <a:schemeClr val="dk1"/>
                </a:solidFill>
              </a:rPr>
              <a:t>    FinSi</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FinSi</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a:t>
            </a:r>
            <a:endParaRPr sz="600">
              <a:solidFill>
                <a:schemeClr val="dk1"/>
              </a:solidFill>
            </a:endParaRPr>
          </a:p>
        </p:txBody>
      </p:sp>
      <p:sp>
        <p:nvSpPr>
          <p:cNvPr id="73" name="Google Shape;73;p15"/>
          <p:cNvSpPr txBox="1"/>
          <p:nvPr/>
        </p:nvSpPr>
        <p:spPr>
          <a:xfrm>
            <a:off x="4012575" y="1130925"/>
            <a:ext cx="206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00"/>
              <a:t>para encolar proceso según prioridad </a:t>
            </a:r>
            <a:endParaRPr b="1" sz="800"/>
          </a:p>
        </p:txBody>
      </p:sp>
      <p:sp>
        <p:nvSpPr>
          <p:cNvPr id="74" name="Google Shape;74;p15"/>
          <p:cNvSpPr txBox="1"/>
          <p:nvPr/>
        </p:nvSpPr>
        <p:spPr>
          <a:xfrm>
            <a:off x="3909300" y="1438725"/>
            <a:ext cx="23394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600">
                <a:solidFill>
                  <a:schemeClr val="dk1"/>
                </a:solidFill>
              </a:rPr>
              <a:t>Inicio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Leer proceso</a:t>
            </a:r>
            <a:endParaRPr sz="600">
              <a:solidFill>
                <a:schemeClr val="dk1"/>
              </a:solidFill>
            </a:endParaRPr>
          </a:p>
          <a:p>
            <a:pPr indent="0" lvl="0" marL="0" rtl="0" algn="l">
              <a:spcBef>
                <a:spcPts val="0"/>
              </a:spcBef>
              <a:spcAft>
                <a:spcPts val="0"/>
              </a:spcAft>
              <a:buNone/>
            </a:pPr>
            <a:r>
              <a:rPr lang="es" sz="600">
                <a:solidFill>
                  <a:schemeClr val="dk1"/>
                </a:solidFill>
              </a:rPr>
              <a:t>Leer prioridad</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Si la cola está vacía Entonces</a:t>
            </a:r>
            <a:endParaRPr sz="600">
              <a:solidFill>
                <a:schemeClr val="dk1"/>
              </a:solidFill>
            </a:endParaRPr>
          </a:p>
          <a:p>
            <a:pPr indent="0" lvl="0" marL="0" rtl="0" algn="l">
              <a:spcBef>
                <a:spcPts val="0"/>
              </a:spcBef>
              <a:spcAft>
                <a:spcPts val="0"/>
              </a:spcAft>
              <a:buNone/>
            </a:pPr>
            <a:r>
              <a:rPr lang="es" sz="600">
                <a:solidFill>
                  <a:schemeClr val="dk1"/>
                </a:solidFill>
              </a:rPr>
              <a:t>    Insertar proceso</a:t>
            </a:r>
            <a:endParaRPr sz="600">
              <a:solidFill>
                <a:schemeClr val="dk1"/>
              </a:solidFill>
            </a:endParaRPr>
          </a:p>
          <a:p>
            <a:pPr indent="0" lvl="0" marL="0" rtl="0" algn="l">
              <a:spcBef>
                <a:spcPts val="0"/>
              </a:spcBef>
              <a:spcAft>
                <a:spcPts val="0"/>
              </a:spcAft>
              <a:buNone/>
            </a:pPr>
            <a:r>
              <a:rPr lang="es" sz="600">
                <a:solidFill>
                  <a:schemeClr val="dk1"/>
                </a:solidFill>
              </a:rPr>
              <a:t>Sino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    Comparar prioridades</a:t>
            </a:r>
            <a:endParaRPr sz="600">
              <a:solidFill>
                <a:schemeClr val="dk1"/>
              </a:solidFill>
            </a:endParaRPr>
          </a:p>
          <a:p>
            <a:pPr indent="0" lvl="0" marL="0" rtl="0" algn="l">
              <a:spcBef>
                <a:spcPts val="0"/>
              </a:spcBef>
              <a:spcAft>
                <a:spcPts val="0"/>
              </a:spcAft>
              <a:buNone/>
            </a:pPr>
            <a:r>
              <a:rPr lang="es" sz="600">
                <a:solidFill>
                  <a:schemeClr val="dk1"/>
                </a:solidFill>
              </a:rPr>
              <a:t>    Insertar proceso en la posición correspondiente</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FinSi</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Mostrar "Proceso agregado a la cola"</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a:t>
            </a:r>
            <a:endParaRPr sz="600">
              <a:solidFill>
                <a:schemeClr val="dk1"/>
              </a:solidFill>
            </a:endParaRPr>
          </a:p>
        </p:txBody>
      </p:sp>
      <p:sp>
        <p:nvSpPr>
          <p:cNvPr id="75" name="Google Shape;75;p15"/>
          <p:cNvSpPr txBox="1"/>
          <p:nvPr/>
        </p:nvSpPr>
        <p:spPr>
          <a:xfrm>
            <a:off x="7135000" y="2907425"/>
            <a:ext cx="133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800"/>
              <a:t>para liberar memoria </a:t>
            </a:r>
            <a:endParaRPr b="1" sz="800"/>
          </a:p>
        </p:txBody>
      </p:sp>
      <p:sp>
        <p:nvSpPr>
          <p:cNvPr id="76" name="Google Shape;76;p15"/>
          <p:cNvSpPr txBox="1"/>
          <p:nvPr/>
        </p:nvSpPr>
        <p:spPr>
          <a:xfrm>
            <a:off x="6683675" y="3479750"/>
            <a:ext cx="2169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600">
                <a:solidFill>
                  <a:schemeClr val="dk1"/>
                </a:solidFill>
              </a:rPr>
              <a:t>Inicio</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Si la pila está vacía Entonces</a:t>
            </a:r>
            <a:endParaRPr sz="600">
              <a:solidFill>
                <a:schemeClr val="dk1"/>
              </a:solidFill>
            </a:endParaRPr>
          </a:p>
          <a:p>
            <a:pPr indent="0" lvl="0" marL="0" rtl="0" algn="l">
              <a:spcBef>
                <a:spcPts val="0"/>
              </a:spcBef>
              <a:spcAft>
                <a:spcPts val="0"/>
              </a:spcAft>
              <a:buNone/>
            </a:pPr>
            <a:r>
              <a:rPr lang="es" sz="600">
                <a:solidFill>
                  <a:schemeClr val="dk1"/>
                </a:solidFill>
              </a:rPr>
              <a:t>    Mostrar "No hay memoria para liberar"</a:t>
            </a:r>
            <a:endParaRPr sz="600">
              <a:solidFill>
                <a:schemeClr val="dk1"/>
              </a:solidFill>
            </a:endParaRPr>
          </a:p>
          <a:p>
            <a:pPr indent="0" lvl="0" marL="0" rtl="0" algn="l">
              <a:spcBef>
                <a:spcPts val="0"/>
              </a:spcBef>
              <a:spcAft>
                <a:spcPts val="0"/>
              </a:spcAft>
              <a:buNone/>
            </a:pPr>
            <a:r>
              <a:rPr lang="es" sz="600">
                <a:solidFill>
                  <a:schemeClr val="dk1"/>
                </a:solidFill>
              </a:rPr>
              <a:t>Sino</a:t>
            </a:r>
            <a:endParaRPr sz="600">
              <a:solidFill>
                <a:schemeClr val="dk1"/>
              </a:solidFill>
            </a:endParaRPr>
          </a:p>
          <a:p>
            <a:pPr indent="0" lvl="0" marL="0" rtl="0" algn="l">
              <a:spcBef>
                <a:spcPts val="0"/>
              </a:spcBef>
              <a:spcAft>
                <a:spcPts val="0"/>
              </a:spcAft>
              <a:buNone/>
            </a:pPr>
            <a:r>
              <a:rPr lang="es" sz="600">
                <a:solidFill>
                  <a:schemeClr val="dk1"/>
                </a:solidFill>
              </a:rPr>
              <a:t>    Eliminar elemento superior</a:t>
            </a:r>
            <a:endParaRPr sz="600">
              <a:solidFill>
                <a:schemeClr val="dk1"/>
              </a:solidFill>
            </a:endParaRPr>
          </a:p>
          <a:p>
            <a:pPr indent="0" lvl="0" marL="0" rtl="0" algn="l">
              <a:spcBef>
                <a:spcPts val="0"/>
              </a:spcBef>
              <a:spcAft>
                <a:spcPts val="0"/>
              </a:spcAft>
              <a:buNone/>
            </a:pPr>
            <a:r>
              <a:rPr lang="es" sz="600">
                <a:solidFill>
                  <a:schemeClr val="dk1"/>
                </a:solidFill>
              </a:rPr>
              <a:t>    Mostrar "Memoria liberada correctamente"</a:t>
            </a:r>
            <a:endParaRPr sz="600">
              <a:solidFill>
                <a:schemeClr val="dk1"/>
              </a:solidFill>
            </a:endParaRPr>
          </a:p>
          <a:p>
            <a:pPr indent="0" lvl="0" marL="0" rtl="0" algn="l">
              <a:spcBef>
                <a:spcPts val="0"/>
              </a:spcBef>
              <a:spcAft>
                <a:spcPts val="0"/>
              </a:spcAft>
              <a:buNone/>
            </a:pPr>
            <a:r>
              <a:rPr lang="es" sz="600">
                <a:solidFill>
                  <a:schemeClr val="dk1"/>
                </a:solidFill>
              </a:rPr>
              <a:t>FinSi</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lang="es" sz="600">
                <a:solidFill>
                  <a:schemeClr val="dk1"/>
                </a:solidFill>
              </a:rPr>
              <a:t>Fin</a:t>
            </a:r>
            <a:endParaRPr sz="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ctrTitle"/>
          </p:nvPr>
        </p:nvSpPr>
        <p:spPr>
          <a:xfrm>
            <a:off x="257326" y="298725"/>
            <a:ext cx="7399500" cy="5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000">
                <a:solidFill>
                  <a:schemeClr val="dk2"/>
                </a:solidFill>
              </a:rPr>
              <a:t>3. Diagramas de Flujo</a:t>
            </a:r>
            <a:endParaRPr sz="2000">
              <a:solidFill>
                <a:schemeClr val="dk2"/>
              </a:solidFill>
            </a:endParaRPr>
          </a:p>
          <a:p>
            <a:pPr indent="0" lvl="0" marL="0" rtl="0" algn="l">
              <a:spcBef>
                <a:spcPts val="0"/>
              </a:spcBef>
              <a:spcAft>
                <a:spcPts val="0"/>
              </a:spcAft>
              <a:buNone/>
            </a:pPr>
            <a:r>
              <a:t/>
            </a:r>
            <a:endParaRPr sz="2200">
              <a:solidFill>
                <a:schemeClr val="dk2"/>
              </a:solidFill>
            </a:endParaRPr>
          </a:p>
        </p:txBody>
      </p:sp>
      <p:pic>
        <p:nvPicPr>
          <p:cNvPr id="82" name="Google Shape;82;p16"/>
          <p:cNvPicPr preferRelativeResize="0"/>
          <p:nvPr/>
        </p:nvPicPr>
        <p:blipFill>
          <a:blip r:embed="rId3">
            <a:alphaModFix/>
          </a:blip>
          <a:stretch>
            <a:fillRect/>
          </a:stretch>
        </p:blipFill>
        <p:spPr>
          <a:xfrm>
            <a:off x="951625" y="497925"/>
            <a:ext cx="2632801" cy="4563275"/>
          </a:xfrm>
          <a:prstGeom prst="rect">
            <a:avLst/>
          </a:prstGeom>
          <a:noFill/>
          <a:ln>
            <a:noFill/>
          </a:ln>
        </p:spPr>
      </p:pic>
      <p:pic>
        <p:nvPicPr>
          <p:cNvPr id="83" name="Google Shape;83;p16"/>
          <p:cNvPicPr preferRelativeResize="0"/>
          <p:nvPr/>
        </p:nvPicPr>
        <p:blipFill>
          <a:blip r:embed="rId4">
            <a:alphaModFix/>
          </a:blip>
          <a:stretch>
            <a:fillRect/>
          </a:stretch>
        </p:blipFill>
        <p:spPr>
          <a:xfrm>
            <a:off x="4572001" y="346525"/>
            <a:ext cx="3177275" cy="47146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ctrTitle"/>
          </p:nvPr>
        </p:nvSpPr>
        <p:spPr>
          <a:xfrm>
            <a:off x="43501" y="87000"/>
            <a:ext cx="7399500" cy="5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2000">
                <a:solidFill>
                  <a:schemeClr val="dk2"/>
                </a:solidFill>
              </a:rPr>
              <a:t>4. Justificación del diseño:</a:t>
            </a:r>
            <a:endParaRPr sz="2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89" name="Google Shape;89;p17"/>
          <p:cNvSpPr txBox="1"/>
          <p:nvPr/>
        </p:nvSpPr>
        <p:spPr>
          <a:xfrm>
            <a:off x="146800" y="395750"/>
            <a:ext cx="8548500" cy="46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 sz="800">
                <a:solidFill>
                  <a:schemeClr val="dk1"/>
                </a:solidFill>
              </a:rPr>
              <a:t>2.4 Justificación del Diseño</a:t>
            </a:r>
            <a:endParaRPr b="1" sz="800">
              <a:solidFill>
                <a:schemeClr val="dk1"/>
              </a:solidFill>
            </a:endParaRPr>
          </a:p>
          <a:p>
            <a:pPr indent="0" lvl="0" marL="0" rtl="0" algn="l">
              <a:lnSpc>
                <a:spcPct val="115000"/>
              </a:lnSpc>
              <a:spcBef>
                <a:spcPts val="1200"/>
              </a:spcBef>
              <a:spcAft>
                <a:spcPts val="0"/>
              </a:spcAft>
              <a:buNone/>
            </a:pPr>
            <a:r>
              <a:rPr lang="es" sz="800">
                <a:solidFill>
                  <a:schemeClr val="dk1"/>
                </a:solidFill>
              </a:rPr>
              <a:t>El sistema fue diseñado utilizando estructuras de datos dinámicas lineales porque ofrecen una forma más flexible y eficiente de administrar la información durante la ejecución del programa.</a:t>
            </a:r>
            <a:endParaRPr sz="800">
              <a:solidFill>
                <a:schemeClr val="dk1"/>
              </a:solidFill>
            </a:endParaRPr>
          </a:p>
          <a:p>
            <a:pPr indent="0" lvl="0" marL="0" rtl="0" algn="l">
              <a:lnSpc>
                <a:spcPct val="115000"/>
              </a:lnSpc>
              <a:spcBef>
                <a:spcPts val="1200"/>
              </a:spcBef>
              <a:spcAft>
                <a:spcPts val="0"/>
              </a:spcAft>
              <a:buNone/>
            </a:pPr>
            <a:r>
              <a:rPr lang="es" sz="800">
                <a:solidFill>
                  <a:schemeClr val="dk1"/>
                </a:solidFill>
              </a:rPr>
              <a:t>En el caso de la lista enlazada, se eligió porque permite registrar y gestionar procesos sin necesidad de establecer un tamaño fijo desde el inicio. Esto facilita agregar, eliminar o modificar procesos de manera más dinámica conforme el sistema se encuentra en funcionamiento.</a:t>
            </a:r>
            <a:endParaRPr sz="800">
              <a:solidFill>
                <a:schemeClr val="dk1"/>
              </a:solidFill>
            </a:endParaRPr>
          </a:p>
          <a:p>
            <a:pPr indent="0" lvl="0" marL="0" rtl="0" algn="l">
              <a:lnSpc>
                <a:spcPct val="115000"/>
              </a:lnSpc>
              <a:spcBef>
                <a:spcPts val="1200"/>
              </a:spcBef>
              <a:spcAft>
                <a:spcPts val="0"/>
              </a:spcAft>
              <a:buNone/>
            </a:pPr>
            <a:r>
              <a:rPr lang="es" sz="800">
                <a:solidFill>
                  <a:schemeClr val="dk1"/>
                </a:solidFill>
              </a:rPr>
              <a:t>Por otro lado, la cola de prioridad se implementó para simular el comportamiento de planificación de la CPU en un sistema operativo real. Gracias a esta estructura, los procesos con mayor prioridad pueden ejecutarse primero, permitiendo una mejor organización y control de las tareas.</a:t>
            </a:r>
            <a:endParaRPr sz="800">
              <a:solidFill>
                <a:schemeClr val="dk1"/>
              </a:solidFill>
            </a:endParaRPr>
          </a:p>
          <a:p>
            <a:pPr indent="0" lvl="0" marL="0" rtl="0" algn="l">
              <a:lnSpc>
                <a:spcPct val="115000"/>
              </a:lnSpc>
              <a:spcBef>
                <a:spcPts val="1200"/>
              </a:spcBef>
              <a:spcAft>
                <a:spcPts val="0"/>
              </a:spcAft>
              <a:buNone/>
            </a:pPr>
            <a:r>
              <a:rPr lang="es" sz="800">
                <a:solidFill>
                  <a:schemeClr val="dk1"/>
                </a:solidFill>
              </a:rPr>
              <a:t>Asimismo, la pila fue utilizada para representar la administración de memoria siguiendo el principio LIFO (Last In, First Out), donde el último bloque de memoria asignado será el primero en liberarse. Esto ayuda a simular de manera más cercana cómo un sistema administra recursos temporalmente.</a:t>
            </a:r>
            <a:endParaRPr sz="800">
              <a:solidFill>
                <a:schemeClr val="dk1"/>
              </a:solidFill>
            </a:endParaRPr>
          </a:p>
          <a:p>
            <a:pPr indent="0" lvl="0" marL="0" rtl="0" algn="l">
              <a:lnSpc>
                <a:spcPct val="115000"/>
              </a:lnSpc>
              <a:spcBef>
                <a:spcPts val="1800"/>
              </a:spcBef>
              <a:spcAft>
                <a:spcPts val="0"/>
              </a:spcAft>
              <a:buNone/>
            </a:pPr>
            <a:r>
              <a:rPr b="1" lang="es" sz="800">
                <a:solidFill>
                  <a:schemeClr val="dk1"/>
                </a:solidFill>
              </a:rPr>
              <a:t>Ventajas del diseño</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Permite un uso más flexible y dinámico de la memoria.</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Facilita la organización y administración de procesos.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Mejora el control de prioridades en la ejecución de tareas.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Simula de manera más realista el funcionamiento básico de un sistema operativo.</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Facilita futuras mejoras o ampliaciones del sistema.</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Las operaciones de inserción y eliminación son más eficientes en estructuras dinámicas.</a:t>
            </a:r>
            <a:endParaRPr sz="800">
              <a:solidFill>
                <a:schemeClr val="dk1"/>
              </a:solidFill>
            </a:endParaRPr>
          </a:p>
          <a:p>
            <a:pPr indent="0" lvl="0" marL="0" rtl="0" algn="l">
              <a:lnSpc>
                <a:spcPct val="115000"/>
              </a:lnSpc>
              <a:spcBef>
                <a:spcPts val="1800"/>
              </a:spcBef>
              <a:spcAft>
                <a:spcPts val="0"/>
              </a:spcAft>
              <a:buNone/>
            </a:pPr>
            <a:r>
              <a:rPr b="1" lang="es" sz="800">
                <a:solidFill>
                  <a:schemeClr val="dk1"/>
                </a:solidFill>
              </a:rPr>
              <a:t>Desventajas del diseño</a:t>
            </a:r>
            <a:endParaRPr b="1" sz="800">
              <a:solidFill>
                <a:schemeClr val="dk1"/>
              </a:solidFill>
            </a:endParaRPr>
          </a:p>
          <a:p>
            <a:pPr indent="-279400" lvl="0" marL="457200" rtl="0" algn="l">
              <a:lnSpc>
                <a:spcPct val="115000"/>
              </a:lnSpc>
              <a:spcBef>
                <a:spcPts val="1200"/>
              </a:spcBef>
              <a:spcAft>
                <a:spcPts val="0"/>
              </a:spcAft>
              <a:buClr>
                <a:schemeClr val="dk1"/>
              </a:buClr>
              <a:buSzPts val="800"/>
              <a:buChar char="●"/>
            </a:pPr>
            <a:r>
              <a:rPr lang="es" sz="800">
                <a:solidFill>
                  <a:schemeClr val="dk1"/>
                </a:solidFill>
              </a:rPr>
              <a:t>Las listas enlazadas requieren memoria adicional para almacenar referencias o punteros.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Si la cantidad de procesos aumenta demasiado, algunas búsquedas pueden tardar más tiempo.</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El manejo de estructuras dinámicas hace que el código sea más complejo de desarrollar y mantener.</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La cola de prioridad necesita validaciones constantes para conservar el orden correcto de ejecución.</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s" sz="800">
                <a:solidFill>
                  <a:schemeClr val="dk1"/>
                </a:solidFill>
              </a:rPr>
              <a:t>Un manejo incorrecto de memoria dinámica podría ocasionar errores o fugas de memoria en el programa.</a:t>
            </a:r>
            <a:endParaRPr sz="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